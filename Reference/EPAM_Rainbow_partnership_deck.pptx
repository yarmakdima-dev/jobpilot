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Uploaded file: Rainbow-EPAM_match_cases_refined.txt
- All claims, prioritization, and wording in this deck are adapted from the uploaded brief provided by the user.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Uploaded file: Rainbow-EPAM_match_cases_refined.txt
- All claims, prioritization, and wording in this deck are adapted from the uploaded brief provided by the user.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Uploaded file: Rainbow-EPAM_match_cases_refined.txt
- All claims, prioritization, and wording in this deck are adapted from the uploaded brief provided by the user.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Uploaded file: Rainbow-EPAM_match_cases_refined.txt
- All claims, prioritization, and wording in this deck are adapted from the uploaded brief provided by the user.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Uploaded file: Rainbow-EPAM_match_cases_refined.txt
- All claims, prioritization, and wording in this deck are adapted from the uploaded brief provided by the user.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Uploaded file: Rainbow-EPAM_match_cases_refined.txt
- All claims, prioritization, and wording in this deck are adapted from the uploaded brief provided by the user.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Uploaded file: Rainbow-EPAM_match_cases_refined.txt
- All claims, prioritization, and wording in this deck are adapted from the uploaded brief provided by the user.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EPAM × Rainbow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43800" y="6428232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uploaded partnership hypothesis brief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14400"/>
            <a:ext cx="10789920" cy="51206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5800" y="914400"/>
            <a:ext cx="10789920" cy="164592"/>
          </a:xfrm>
          <a:prstGeom prst="rect">
            <a:avLst/>
          </a:prstGeom>
          <a:solidFill>
            <a:srgbClr val="DCE6FF"/>
          </a:solidFill>
          <a:ln w="12700">
            <a:solidFill>
              <a:srgbClr val="DCE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417320"/>
            <a:ext cx="5852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EPAM × Rainbow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Partnership Fit Hypotheses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69848" y="2788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 partnership-ready view of where Rainbow’s nowcasting is commercially credible inside EPAM-led products and workflows.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9848" y="3794760"/>
            <a:ext cx="1828800" cy="292608"/>
          </a:xfrm>
          <a:prstGeom prst="rect">
            <a:avLst/>
          </a:prstGeom>
          <a:solidFill>
            <a:srgbClr val="5B7CFA"/>
          </a:solidFill>
          <a:ln>
            <a:solidFill>
              <a:srgbClr val="5B7CF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Narrow thesis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3794760"/>
            <a:ext cx="2011680" cy="292608"/>
          </a:xfrm>
          <a:prstGeom prst="rect">
            <a:avLst/>
          </a:prstGeom>
          <a:solidFill>
            <a:srgbClr val="0F9D7A"/>
          </a:solidFill>
          <a:ln>
            <a:solidFill>
              <a:srgbClr val="0F9D7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Workflow-led 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85232" y="3794760"/>
            <a:ext cx="1828800" cy="2926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Selective verticals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43800" y="1600200"/>
            <a:ext cx="2926080" cy="3291840"/>
          </a:xfrm>
          <a:prstGeom prst="roundRect">
            <a:avLst>
              <a:gd name="adj" fmla="val 4375"/>
            </a:avLst>
          </a:prstGeom>
          <a:solidFill>
            <a:srgbClr val="F8FA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B7CFA"/>
                </a:solidFill>
              </a:rPr>
              <a:t>Core product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5B7CFA"/>
                </a:solidFill>
              </a:rPr>
              <a:t>fit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909560" y="26974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4-hour precipitation nowcast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 km² spatial resolution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Updated every 10 minutes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Delivered by API + map tiles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4343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</a:rPr>
              <a:t>Best used as an embedded component, not a finished vertical app.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The partnership thesis is strongest when it stays operational, narrow, and embedded.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109728" cy="1828800"/>
          </a:xfrm>
          <a:prstGeom prst="rect">
            <a:avLst/>
          </a:prstGeom>
          <a:solidFill>
            <a:srgbClr val="0F9D7A"/>
          </a:solidFill>
          <a:ln w="12700">
            <a:solidFill>
              <a:srgbClr val="0F9D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What is solidly true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3310128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Rainbow’s clearest product is short-term precipitation nowcasting: minute-by-minute forecasts for the next 4 hours, at 1 km² resolution, updated every 10 minutes, with API/map-tile delivery and enterprise deployment options.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429000"/>
            <a:ext cx="109728" cy="182880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935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What follows strategically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931920"/>
            <a:ext cx="3310128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Rainbow matters to EPAM only where EPAM already owns or influences a workflow in which precipitation changes the next 30–180 minutes of action, routing, staffing, ETA, or customer communication.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26280" y="1371600"/>
            <a:ext cx="3291840" cy="3886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371600"/>
            <a:ext cx="109728" cy="3886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53619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Commercially credible thesis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874520"/>
            <a:ext cx="2944368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Do not pitch “weather intelligence for EPAM clients.”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Pitch a specialized nowcasting component embedded into selected EPAM-led digital products and operations workflows.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520440" cy="3886200"/>
          </a:xfrm>
          <a:prstGeom prst="roundRect">
            <a:avLst>
              <a:gd name="adj" fmla="val 3117"/>
            </a:avLst>
          </a:prstGeom>
          <a:solidFill>
            <a:srgbClr val="FFF7E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4813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</a:rPr>
              <a:t>Boundary conditions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1810512"/>
            <a:ext cx="3200400" cy="33832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Not for safety-critical or life-critical use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Standard availability guarantees appear limited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Coverage quality may vary by geography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Value depends on EPAM controlling the integration surface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evaluate fit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A simple screen: capability fit × workflow ownership × measurable rain sensitivity.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880360" cy="1005840"/>
          </a:xfrm>
          <a:prstGeom prst="chevron">
            <a:avLst/>
          </a:prstGeom>
          <a:solidFill>
            <a:srgbClr val="DCE6FF"/>
          </a:solidFill>
          <a:ln w="12700">
            <a:solidFill>
              <a:srgbClr val="BBD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86200" y="2103120"/>
            <a:ext cx="2880360" cy="1005840"/>
          </a:xfrm>
          <a:prstGeom prst="chevron">
            <a:avLst/>
          </a:prstGeom>
          <a:solidFill>
            <a:srgbClr val="DDF7EF"/>
          </a:solidFill>
          <a:ln w="12700">
            <a:solidFill>
              <a:srgbClr val="9AE6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103120"/>
            <a:ext cx="2971800" cy="1005840"/>
          </a:xfrm>
          <a:prstGeom prst="chevron">
            <a:avLst/>
          </a:prstGeom>
          <a:solidFill>
            <a:srgbClr val="FFF2CC"/>
          </a:solidFill>
          <a:ln w="12700">
            <a:solidFill>
              <a:srgbClr val="F3D3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591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7CFA"/>
                </a:solidFill>
              </a:rPr>
              <a:t>1  Capability fit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60520" y="2359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7A"/>
                </a:solidFill>
              </a:rPr>
              <a:t>2  EPAM owns the workflow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05472" y="23591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6207"/>
                </a:solidFill>
              </a:rPr>
              <a:t>3  KPI moves within hours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3246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657600"/>
            <a:ext cx="109728" cy="155448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822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Good fit looks like…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4160520"/>
            <a:ext cx="28986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Dispatch boards, ETAs, disruption handling, pickup windows, venue messaging, claims triage, or store-level ops dashboards where local rain changes near-term decisions.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80560" y="3657600"/>
            <a:ext cx="3246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3657600"/>
            <a:ext cx="109728" cy="15544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822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Weak fit looks like…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4160520"/>
            <a:ext cx="28986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General analytics, long-range planning, pure banking/wealth workflows, or areas where EPAM does not touch the operational surface.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3657600"/>
            <a:ext cx="3246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3657600"/>
            <a:ext cx="109728" cy="1554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822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Hard stop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66760" y="4160520"/>
            <a:ext cx="28986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Any positioning that drifts into safety-critical navigation, emergency response, clinical use, or other life-critical decisioning.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Highest-priority use cases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These are the strongest matches between Rainbow’s product and EPAM’s likely delivery motions.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EEF4FF"/>
          </a:solidFill>
          <a:ln w="12700">
            <a:solidFill>
              <a:srgbClr val="BBD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270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690"/>
                </a:solidFill>
              </a:rPr>
              <a:t>A  Travel &amp; hospitality disruption handling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856232"/>
            <a:ext cx="3291840" cy="3977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Use case: day-of-travel messaging, rebooking, transfers, guest guidance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Why it fits: 30–180 minute decisions benefit from hyperlocal rain nowcasts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What must be true: EPAM owns the app, service tooling, or ops layer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Discovery: does rain materially affect NPS, missed connections, or rebooking cost?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141732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ECFDF3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5270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</a:rPr>
              <a:t>B  Last-mile delivery &amp; field service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1856232"/>
            <a:ext cx="2926080" cy="3977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Use case: route resequencing, ETA buffers, slot protection, proactive comms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Why it fits: local rain changes travel times, stop duration, and SLA attainment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What must be true: EPAM can access dispatch, scheduling, or notifications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Discovery: is there a proven rain correlation to misses or technician throughput?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09560" y="141732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FF8E8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74152" y="15270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</a:rPr>
              <a:t>C  Retail ops &amp; omnichannel fulfillment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92440" y="1856232"/>
            <a:ext cx="3291840" cy="3977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Use case: curbside pickup buffers, staffing tweaks, local promo control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Why it fits: rain shifts footfall, pickup behavior, and delivery reliability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What must be true: store-level systems are modifiable and weather-sensitive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Discovery: which clients can tie rain to labor mismatch or missed windows?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Secondary opportunities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Promising, but more dependent on workflow constraints, data acceptance, or proof of business impact.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10972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190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D  Insurance FNOL &amp; claims triage enrichment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3310128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Best fit is contextual support in intake and prioritization after localized heavy-rain events. Keep usage advisory, not evidentiary or underwriting-driven, unless auditability and provenance are proven.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37490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3749040"/>
            <a:ext cx="109728" cy="182880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136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E  Sports venues, events &amp; fan experience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3310128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Strong embed fit for venue apps and event-day tools: arrival messaging, concession planning, seat utilization, and digital engagement. Must show measurable upside, not just a nicer app feature.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15544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554480"/>
            <a:ext cx="109728" cy="1920240"/>
          </a:xfrm>
          <a:prstGeom prst="rect">
            <a:avLst/>
          </a:prstGeom>
          <a:solidFill>
            <a:srgbClr val="0F9D7A"/>
          </a:solidFill>
          <a:ln w="12700">
            <a:solidFill>
              <a:srgbClr val="0F9D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7190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F  Utilities &amp; energy field-work orchestration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057400"/>
            <a:ext cx="3310128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Useful for postponement, resequencing, and customer communication where local precipitation affects service windows. Keep away from safety-critical operating narratives.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37490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3749040"/>
            <a:ext cx="10972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9136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G  Industrial / connected-product dashboards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4251960"/>
            <a:ext cx="3310128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Potential fit as a weather layer in operator dashboards for non-safety-critical planning. This remains a weaker hypothesis until a clear KPI and integration surface are identified.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49640" y="1554480"/>
            <a:ext cx="2743200" cy="402336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14232" y="16642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151"/>
                </a:solidFill>
              </a:rPr>
              <a:t>What raises priority?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32520" y="1993392"/>
            <a:ext cx="2423160" cy="3520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Direct control over UX or ops workflow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Near-term rain clearly changes action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Client can quantify service/cost impact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Advisory use is acceptable legally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de-prioritize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Avoid forcing Rainbow into domains where the product fit is weak or the risk profile is wrong.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DECEC"/>
          </a:solidFill>
          <a:ln w="12700">
            <a:solidFill>
              <a:srgbClr val="F5B5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642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1239"/>
                </a:solidFill>
              </a:rPr>
              <a:t>De-prioritize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3154680" cy="3703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Financial services outside insurance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Healthcare / life sciences except narrow logistics edge cases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Generic “weather intelligence” platform positioning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6642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</a:rPr>
              <a:t>Why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1993392"/>
            <a:ext cx="3154680" cy="3703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The uploaded brief shows no natural mapping to core banking, payments, or wealth workflows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Healthcare positioning conflicts with stated product constraints and risk sensitivity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Broad messaging weakens credibility versus a narrow workflow-led story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01000" y="155448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5592" y="16642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Explicit no-go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83880" y="1993392"/>
            <a:ext cx="3108960" cy="3703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• Aviation safety, navigation, emergency planning, life-safety, clinical operations, or any other safety-critical narrative without separate legal/enterprise diligence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partnership narrative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Lead with a narrow operating thesis and qualify accounts quickly.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10469880" cy="1051560"/>
          </a:xfrm>
          <a:prstGeom prst="roundRect">
            <a:avLst>
              <a:gd name="adj" fmla="val 1043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19072"/>
            <a:ext cx="10012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“Rainbow is not a broad weather platform for all EPAM accounts; it is a specialized nowcasting component for selected EPAM-led products and workflows where precipitation in the next few hours changes what customers, operators, or service teams should do.”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31089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926080"/>
            <a:ext cx="109728" cy="233172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09067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Qualification checklist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429000"/>
            <a:ext cx="276148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1. Is the workflow affected by rain inside 2–4 hours?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2. Does EPAM own the digital surface?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3. Can the client measure service, cost, or CX impact?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4. Is advisory usage acceptable?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26280" y="2926080"/>
            <a:ext cx="31089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926080"/>
            <a:ext cx="109728" cy="2331720"/>
          </a:xfrm>
          <a:prstGeom prst="rect">
            <a:avLst/>
          </a:prstGeom>
          <a:solidFill>
            <a:srgbClr val="0F9D7A"/>
          </a:solidFill>
          <a:ln w="12700">
            <a:solidFill>
              <a:srgbClr val="0F9D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09067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Best entry points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3429000"/>
            <a:ext cx="276148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Travel disruption products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Field-service orchestration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Retail pickup &amp; fulfillment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Venue/event-day experiences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Insurance intake triage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926080"/>
            <a:ext cx="3154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926080"/>
            <a:ext cx="109728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30906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Suggested next step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3429000"/>
            <a:ext cx="280720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Run account discovery against a small set of EPAM clients where rain-sensitive workflows and integration control are already visible, then test value with one embedded pilot.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EPAM × Rainbow Partnership Fit</dc:title>
  <dc:subject>EPAM-Rainbow partnership hypotheses</dc:subject>
  <dc:creator>OpenAI</dc:creator>
  <cp:lastModifiedBy>OpenAI</cp:lastModifiedBy>
  <cp:revision>1</cp:revision>
  <dcterms:created xsi:type="dcterms:W3CDTF">2026-04-20T17:04:57Z</dcterms:created>
  <dcterms:modified xsi:type="dcterms:W3CDTF">2026-04-20T17:04:57Z</dcterms:modified>
</cp:coreProperties>
</file>